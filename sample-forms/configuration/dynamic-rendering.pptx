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of this deck: explain what 'dynamic rendering' means to a non-technical audience, using the five forms we prototyped. Core message: the form is described by data the backend sends, and one rendering engine turns that into a working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most important slide. The backend describes the form; the frontend interprets that description. Compare the cost of change on each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steps. Emphasize 'the same engine' — the variety comes from the description, not from new screens.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concepts cover everything in the five examples. The next slides show each one in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Frame: the renderer reads these four facets per field. Validation and data source are described, not coded per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Translate technical flexibility into business value: speed, consistency,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candid: dynamic rendering is powerful but needs a disciplined schema contract, source governance, performance care, and engine-level testing. The naming/casing inconsistency we saw across samples is exactly the 'contract'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one-liner. Invite questions; the live prototypes are available to demo each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1463040"/>
            <a:ext cx="5943600" cy="5943600"/>
          </a:xfrm>
          <a:prstGeom prst="roundRect">
            <a:avLst>
              <a:gd name="adj" fmla="val 6154"/>
            </a:avLst>
          </a:prstGeom>
          <a:solidFill>
            <a:srgbClr val="2E2A6B"/>
          </a:solidFill>
          <a:ln/>
        </p:spPr>
      </p:sp>
      <p:sp>
        <p:nvSpPr>
          <p:cNvPr id="3" name="Shape 1"/>
          <p:cNvSpPr/>
          <p:nvPr/>
        </p:nvSpPr>
        <p:spPr>
          <a:xfrm>
            <a:off x="9235440" y="3383280"/>
            <a:ext cx="5943600" cy="5943600"/>
          </a:xfrm>
          <a:prstGeom prst="roundRect">
            <a:avLst>
              <a:gd name="adj" fmla="val 6154"/>
            </a:avLst>
          </a:prstGeom>
          <a:solidFill>
            <a:srgbClr val="4338C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914400" cy="914400"/>
          </a:xfrm>
          <a:prstGeom prst="ellipse">
            <a:avLst/>
          </a:prstGeom>
          <a:solidFill>
            <a:srgbClr val="4338CA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160934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51460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Form Rendering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841248" y="3794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7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form once. Render it anywhere — no new code each time.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41248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walkthrough of how our forms are built from data, illustrated with real examples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form is data, not hand-built screens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4206240"/>
          </a:xfrm>
          <a:prstGeom prst="roundRect">
            <a:avLst>
              <a:gd name="adj" fmla="val 1957"/>
            </a:avLst>
          </a:prstGeom>
          <a:solidFill>
            <a:srgbClr val="F6F7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form is built by hand in the app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field or rule means a code change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change waits for an app release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and data lists get duplicated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25780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63640" y="1783080"/>
            <a:ext cx="5257800" cy="4206240"/>
          </a:xfrm>
          <a:prstGeom prst="roundRect">
            <a:avLst>
              <a:gd name="adj" fmla="val 1957"/>
            </a:avLst>
          </a:prstGeom>
          <a:solidFill>
            <a:srgbClr val="F1F0FC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7960" y="2011680"/>
            <a:ext cx="502920" cy="502920"/>
          </a:xfrm>
          <a:prstGeom prst="ellipse">
            <a:avLst/>
          </a:prstGeom>
          <a:solidFill>
            <a:srgbClr val="4338CA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8719" y="2142439"/>
            <a:ext cx="241402" cy="24140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178040" y="2057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dynamic way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537960" y="274320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sends a description of the form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rendering engine draws any form from it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fields and rules go live without a release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and data sources are defined once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description to a working screen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383280" cy="3108960"/>
          </a:xfrm>
          <a:prstGeom prst="roundRect">
            <a:avLst>
              <a:gd name="adj" fmla="val 2647"/>
            </a:avLst>
          </a:prstGeom>
          <a:solidFill>
            <a:srgbClr val="F6F7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560320"/>
            <a:ext cx="777240" cy="777240"/>
          </a:xfrm>
          <a:prstGeom prst="ellipse">
            <a:avLst/>
          </a:prstGeom>
          <a:solidFill>
            <a:srgbClr val="4338CA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202" y="276240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017520" y="251460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7D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960120" y="35204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sends a form description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4251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Fields, types, rules, data sources and relationships — as data.</a:t>
            </a:r>
            <a:endParaRPr lang="en-US" sz="13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088" y="3584448"/>
            <a:ext cx="347472" cy="34747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617720" y="2194560"/>
            <a:ext cx="3383280" cy="3108960"/>
          </a:xfrm>
          <a:prstGeom prst="roundRect">
            <a:avLst>
              <a:gd name="adj" fmla="val 2647"/>
            </a:avLst>
          </a:prstGeom>
          <a:solidFill>
            <a:srgbClr val="F6F7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937760" y="2560320"/>
            <a:ext cx="777240" cy="777240"/>
          </a:xfrm>
          <a:prstGeom prst="ellipse">
            <a:avLst/>
          </a:prstGeom>
          <a:solidFill>
            <a:srgbClr val="0E7C61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9842" y="2762402"/>
            <a:ext cx="373075" cy="3730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95160" y="251460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7D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0"/>
          <p:cNvSpPr/>
          <p:nvPr/>
        </p:nvSpPr>
        <p:spPr>
          <a:xfrm>
            <a:off x="4937760" y="35204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reads it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4937760" y="4251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renderer interprets the description and lays out the screen.</a:t>
            </a:r>
            <a:endParaRPr lang="en-US" sz="13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728" y="3584448"/>
            <a:ext cx="347472" cy="34747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595360" y="2194560"/>
            <a:ext cx="3383280" cy="3108960"/>
          </a:xfrm>
          <a:prstGeom prst="roundRect">
            <a:avLst>
              <a:gd name="adj" fmla="val 2647"/>
            </a:avLst>
          </a:prstGeom>
          <a:solidFill>
            <a:srgbClr val="F6F7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915400" y="2560320"/>
            <a:ext cx="777240" cy="777240"/>
          </a:xfrm>
          <a:prstGeom prst="ellipse">
            <a:avLst/>
          </a:prstGeom>
          <a:solidFill>
            <a:srgbClr val="2E2A6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7482" y="2762402"/>
            <a:ext cx="373075" cy="37307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972800" y="251460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7D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Text 15"/>
          <p:cNvSpPr/>
          <p:nvPr/>
        </p:nvSpPr>
        <p:spPr>
          <a:xfrm>
            <a:off x="8915400" y="35204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form appears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8915400" y="4251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Controls, validation and data behave exactly as described.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640080" y="5715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engine renders a sign-up form, a compliance questionnaire or a beneficial-owner list — only the description changes.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DESCRIPTION CONTAINS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things the form describes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6F7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28782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5798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types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32688" y="285292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dropdown, checkbox, radio, file upload and more.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80560" y="182880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6F7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2121408"/>
            <a:ext cx="640080" cy="640080"/>
          </a:xfrm>
          <a:prstGeom prst="ellipse">
            <a:avLst/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301" y="228782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215798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rules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73168" y="285292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Length, allowed characters, how many can be picked.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321040" y="182880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6F7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95360" y="2121408"/>
            <a:ext cx="640080" cy="640080"/>
          </a:xfrm>
          <a:prstGeom prst="ellipse">
            <a:avLst/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1781" y="22878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72600" y="215798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613648" y="285292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fetched live from a system, not baked in.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384048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6F7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133088"/>
            <a:ext cx="640080" cy="640080"/>
          </a:xfrm>
          <a:prstGeom prst="ellipse">
            <a:avLst/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821" y="4299509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416966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logic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32688" y="486460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questions appear based on answers.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480560" y="384048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6F7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54880" y="4133088"/>
            <a:ext cx="640080" cy="640080"/>
          </a:xfrm>
          <a:prstGeom prst="ellipse">
            <a:avLst/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1301" y="4299509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32120" y="416966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Nesting &amp; repetition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773168" y="486460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within forms, with sensible limits.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321040" y="384048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6F7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95360" y="4133088"/>
            <a:ext cx="640080" cy="640080"/>
          </a:xfrm>
          <a:prstGeom prst="ellipse">
            <a:avLst/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1781" y="4299509"/>
            <a:ext cx="307238" cy="30723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72600" y="416966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values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613648" y="486460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submissions flow back in, pre-filled.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FIELD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field carries four things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29200" cy="3931920"/>
          </a:xfrm>
          <a:prstGeom prst="roundRect">
            <a:avLst>
              <a:gd name="adj" fmla="val 2093"/>
            </a:avLst>
          </a:prstGeom>
          <a:solidFill>
            <a:srgbClr val="F6F7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fund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606040"/>
            <a:ext cx="44805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DD2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060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income      ▾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· control · rule · source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E7C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2–80 characters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E7C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letters &amp; limited symbols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E7C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 loaded from a master system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89320" y="1874520"/>
            <a:ext cx="640080" cy="640080"/>
          </a:xfrm>
          <a:prstGeom prst="ellipse">
            <a:avLst/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5741" y="2040941"/>
            <a:ext cx="307238" cy="30723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12280" y="18562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812280" y="22585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person sees and understands.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989320" y="2898648"/>
            <a:ext cx="640080" cy="640080"/>
          </a:xfrm>
          <a:prstGeom prst="ellipse">
            <a:avLst/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5741" y="3065069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12280" y="28803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6812280" y="328269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answer — type, pick, toggle, upload.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5989320" y="3922776"/>
            <a:ext cx="640080" cy="640080"/>
          </a:xfrm>
          <a:prstGeom prst="ellipse">
            <a:avLst/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5741" y="4089197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12280" y="39044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6812280" y="430682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counts as a valid answer.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5989320" y="4946904"/>
            <a:ext cx="640080" cy="640080"/>
          </a:xfrm>
          <a:prstGeom prst="ellipse">
            <a:avLst/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5741" y="5113325"/>
            <a:ext cx="307238" cy="30723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12280" y="492861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source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6812280" y="53309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its options come from, if any.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FORMS THAT REACT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that adapt to the answer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961120" y="548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compliance questionnaire where picking an option reveals the right follow-up — and nothing irrelevant.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3444240" cy="2926080"/>
          </a:xfrm>
          <a:prstGeom prst="roundRect">
            <a:avLst>
              <a:gd name="adj" fmla="val 2813"/>
            </a:avLst>
          </a:prstGeom>
          <a:solidFill>
            <a:srgbClr val="F6F7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3063240"/>
            <a:ext cx="658368" cy="658368"/>
          </a:xfrm>
          <a:prstGeom prst="ellipse">
            <a:avLst/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576" y="3234416"/>
            <a:ext cx="316017" cy="31601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886200"/>
            <a:ext cx="289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and reveal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914400" y="4526280"/>
            <a:ext cx="289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'investments' opens a field asking which kind.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58640" y="2743200"/>
            <a:ext cx="3444240" cy="2926080"/>
          </a:xfrm>
          <a:prstGeom prst="roundRect">
            <a:avLst>
              <a:gd name="adj" fmla="val 2813"/>
            </a:avLst>
          </a:prstGeom>
          <a:solidFill>
            <a:srgbClr val="F6F7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32960" y="3063240"/>
            <a:ext cx="658368" cy="658368"/>
          </a:xfrm>
          <a:prstGeom prst="ellipse">
            <a:avLst/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136" y="3234416"/>
            <a:ext cx="316017" cy="31601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32960" y="3886200"/>
            <a:ext cx="289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rules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632960" y="4526280"/>
            <a:ext cx="289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answer is checked against its length and format rules.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077200" y="2743200"/>
            <a:ext cx="3444240" cy="2926080"/>
          </a:xfrm>
          <a:prstGeom prst="roundRect">
            <a:avLst>
              <a:gd name="adj" fmla="val 2813"/>
            </a:avLst>
          </a:prstGeom>
          <a:solidFill>
            <a:srgbClr val="F6F7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51520" y="3063240"/>
            <a:ext cx="658368" cy="658368"/>
          </a:xfrm>
          <a:prstGeom prst="ellipse">
            <a:avLst/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696" y="3234416"/>
            <a:ext cx="316017" cy="31601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51520" y="3886200"/>
            <a:ext cx="289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351520" y="4526280"/>
            <a:ext cx="289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 and rules live in the description, not the app.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POWERED BY LIVE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 that come from another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961120" y="548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picker and a card-benefit chooser whose contents are fetched at the moment the form opens.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3444240" cy="2926080"/>
          </a:xfrm>
          <a:prstGeom prst="roundRect">
            <a:avLst>
              <a:gd name="adj" fmla="val 2813"/>
            </a:avLst>
          </a:prstGeom>
          <a:solidFill>
            <a:srgbClr val="F6F7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3063240"/>
            <a:ext cx="658368" cy="658368"/>
          </a:xfrm>
          <a:prstGeom prst="ellipse">
            <a:avLst/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576" y="3234416"/>
            <a:ext cx="316017" cy="31601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886200"/>
            <a:ext cx="289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baked in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914400" y="4526280"/>
            <a:ext cx="289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branch list (001, 002, …) isn't in the form — it's pulled live.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58640" y="2743200"/>
            <a:ext cx="3444240" cy="2926080"/>
          </a:xfrm>
          <a:prstGeom prst="roundRect">
            <a:avLst>
              <a:gd name="adj" fmla="val 2813"/>
            </a:avLst>
          </a:prstGeom>
          <a:solidFill>
            <a:srgbClr val="F6F7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32960" y="3063240"/>
            <a:ext cx="658368" cy="658368"/>
          </a:xfrm>
          <a:prstGeom prst="ellipse">
            <a:avLst/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136" y="3234416"/>
            <a:ext cx="316017" cy="31601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32960" y="3886200"/>
            <a:ext cx="289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current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632960" y="4526280"/>
            <a:ext cx="289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branch in the source system and it simply appears.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077200" y="2743200"/>
            <a:ext cx="3444240" cy="2926080"/>
          </a:xfrm>
          <a:prstGeom prst="roundRect">
            <a:avLst>
              <a:gd name="adj" fmla="val 2813"/>
            </a:avLst>
          </a:prstGeom>
          <a:solidFill>
            <a:srgbClr val="F6F7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51520" y="3063240"/>
            <a:ext cx="658368" cy="658368"/>
          </a:xfrm>
          <a:prstGeom prst="ellipse">
            <a:avLst/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696" y="3234416"/>
            <a:ext cx="316017" cy="31601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51520" y="3886200"/>
            <a:ext cx="289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source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351520" y="4526280"/>
            <a:ext cx="289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 just says where to get the list; the engine fetches it.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INSIDE FORMS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Repeatable entries, with limits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961120" y="548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beneficial-owner section: add several people, each with an address pop-up — all governed by the description.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3444240" cy="2926080"/>
          </a:xfrm>
          <a:prstGeom prst="roundRect">
            <a:avLst>
              <a:gd name="adj" fmla="val 2813"/>
            </a:avLst>
          </a:prstGeom>
          <a:solidFill>
            <a:srgbClr val="F6F7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3063240"/>
            <a:ext cx="658368" cy="658368"/>
          </a:xfrm>
          <a:prstGeom prst="ellipse">
            <a:avLst/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576" y="3234416"/>
            <a:ext cx="316017" cy="31601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886200"/>
            <a:ext cx="289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many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914400" y="4526280"/>
            <a:ext cx="289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up to ten owners, each its own mini-form.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58640" y="2743200"/>
            <a:ext cx="3444240" cy="2926080"/>
          </a:xfrm>
          <a:prstGeom prst="roundRect">
            <a:avLst>
              <a:gd name="adj" fmla="val 2813"/>
            </a:avLst>
          </a:prstGeom>
          <a:solidFill>
            <a:srgbClr val="F6F7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32960" y="3063240"/>
            <a:ext cx="658368" cy="658368"/>
          </a:xfrm>
          <a:prstGeom prst="ellipse">
            <a:avLst/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136" y="3234416"/>
            <a:ext cx="316017" cy="31601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32960" y="3886200"/>
            <a:ext cx="289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Pop-up details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632960" y="4526280"/>
            <a:ext cx="289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address sub-form, limited to one per owner.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077200" y="2743200"/>
            <a:ext cx="3444240" cy="2926080"/>
          </a:xfrm>
          <a:prstGeom prst="roundRect">
            <a:avLst>
              <a:gd name="adj" fmla="val 2813"/>
            </a:avLst>
          </a:prstGeom>
          <a:solidFill>
            <a:srgbClr val="F6F7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51520" y="3063240"/>
            <a:ext cx="658368" cy="658368"/>
          </a:xfrm>
          <a:prstGeom prst="ellipse">
            <a:avLst/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696" y="3234416"/>
            <a:ext cx="316017" cy="31601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51520" y="3886200"/>
            <a:ext cx="289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views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351520" y="4526280"/>
            <a:ext cx="289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layout for entering, another for the finished record.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FROM THE DATABASE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Saved records become choices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961120" y="548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 submitted owners come back as selectable options — pick one and its form re-opens, already filled in.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3444240" cy="2926080"/>
          </a:xfrm>
          <a:prstGeom prst="roundRect">
            <a:avLst>
              <a:gd name="adj" fmla="val 2813"/>
            </a:avLst>
          </a:prstGeom>
          <a:solidFill>
            <a:srgbClr val="F6F7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3063240"/>
            <a:ext cx="658368" cy="658368"/>
          </a:xfrm>
          <a:prstGeom prst="ellipse">
            <a:avLst/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576" y="3234416"/>
            <a:ext cx="316017" cy="31601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886200"/>
            <a:ext cx="289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record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914400" y="4526280"/>
            <a:ext cx="289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submissions appear as a single-select list.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58640" y="2743200"/>
            <a:ext cx="3444240" cy="2926080"/>
          </a:xfrm>
          <a:prstGeom prst="roundRect">
            <a:avLst>
              <a:gd name="adj" fmla="val 2813"/>
            </a:avLst>
          </a:prstGeom>
          <a:solidFill>
            <a:srgbClr val="F6F7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32960" y="3063240"/>
            <a:ext cx="658368" cy="658368"/>
          </a:xfrm>
          <a:prstGeom prst="ellipse">
            <a:avLst/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136" y="3234416"/>
            <a:ext cx="316017" cy="31601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32960" y="3886200"/>
            <a:ext cx="289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Pre-filled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632960" y="4526280"/>
            <a:ext cx="289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one restores the values that were saved.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077200" y="2743200"/>
            <a:ext cx="3444240" cy="2926080"/>
          </a:xfrm>
          <a:prstGeom prst="roundRect">
            <a:avLst>
              <a:gd name="adj" fmla="val 2813"/>
            </a:avLst>
          </a:prstGeom>
          <a:solidFill>
            <a:srgbClr val="F6F7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51520" y="3063240"/>
            <a:ext cx="658368" cy="658368"/>
          </a:xfrm>
          <a:prstGeom prst="ellipse">
            <a:avLst/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696" y="3234416"/>
            <a:ext cx="316017" cy="31601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51520" y="3886200"/>
            <a:ext cx="289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description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351520" y="4526280"/>
            <a:ext cx="289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form definition both captures and replays data.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business gets from this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F6F7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04288"/>
            <a:ext cx="777240" cy="777240"/>
          </a:xfrm>
          <a:prstGeom prst="ellipse">
            <a:avLst/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202" y="2506370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2402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without releases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965960" y="283464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a form by changing its description — no app deployment.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92024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F6F7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304288"/>
            <a:ext cx="777240" cy="777240"/>
          </a:xfrm>
          <a:prstGeom prst="ellipse">
            <a:avLst/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5762" y="2506370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9520" y="22402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consistent experience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589520" y="283464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form is drawn by the same engine, so they look and behave alike.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F6F7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315968"/>
            <a:ext cx="777240" cy="777240"/>
          </a:xfrm>
          <a:prstGeom prst="ellipse">
            <a:avLst/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202" y="4518050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251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stay in sync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965960" y="48463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and data lists are defined once and reused everywhere.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263640" y="39319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F6F7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0" y="4315968"/>
            <a:ext cx="777240" cy="777240"/>
          </a:xfrm>
          <a:prstGeom prst="ellipse">
            <a:avLst/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5762" y="4518050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89520" y="4251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to respond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589520" y="48463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compliance or product needs ship in days, not release cycles.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KEEP AN EYE 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Doing it well takes discipline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6F7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54480" y="1993392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consistent contract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0" y="199339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and the engine must agree on how a description is written — consistent naming and structure.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953512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6F7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3136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54480" y="307238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the data 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52160" y="3072384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pulled from other systems need clear ownership and reliability.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032504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6F7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4215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4151376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of live lookups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52160" y="4151376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Fetching lists adds load — cache and design for slow or failed responses.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111496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6F7F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5294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54480" y="523036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the engine, not each form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52160" y="523036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comes from testing the renderer against the full range of descriptions.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3291840"/>
            <a:ext cx="5943600" cy="5943600"/>
          </a:xfrm>
          <a:prstGeom prst="roundRect">
            <a:avLst>
              <a:gd name="adj" fmla="val 6154"/>
            </a:avLst>
          </a:prstGeom>
          <a:solidFill>
            <a:srgbClr val="2E2A6B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1828800"/>
            <a:ext cx="5943600" cy="5943600"/>
          </a:xfrm>
          <a:prstGeom prst="roundRect">
            <a:avLst>
              <a:gd name="adj" fmla="val 6154"/>
            </a:avLst>
          </a:prstGeom>
          <a:solidFill>
            <a:srgbClr val="4338CA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828800"/>
            <a:ext cx="868680" cy="868680"/>
          </a:xfrm>
          <a:prstGeom prst="ellipse">
            <a:avLst/>
          </a:prstGeom>
          <a:solidFill>
            <a:srgbClr val="4338CA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05465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83464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 the form once.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 it anywhere.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86968" y="47548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become data the business can change — drawn by one engine, the same way every time.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Form Rendering</dc:title>
  <dc:subject>PptxGenJS Presentation</dc:subject>
  <dc:creator>Form Platform</dc:creator>
  <cp:lastModifiedBy>Form Platform</cp:lastModifiedBy>
  <cp:revision>1</cp:revision>
  <dcterms:created xsi:type="dcterms:W3CDTF">2026-06-21T08:58:30Z</dcterms:created>
  <dcterms:modified xsi:type="dcterms:W3CDTF">2026-06-21T08:58:30Z</dcterms:modified>
</cp:coreProperties>
</file>